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an enhancement of the supplied lab. This is a team project; do not claim that the group wrote the routing engine. Jenkins success, SCM triggering, failure/recovery and final-main build #5 are verified. Instructor scope/polling acceptance and actual team assessment remain pending.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customer problem before the implementation. The supplied lab uses GraphHopper; the instructor guide mentions MapQuest, so provider approval is still an explicit team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one route through the actual functions. Geocoding and routing use HTTPS GET requests. History and exports reuse validated route data without making additional requests.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command-line output in the demonstration. Point out that readable plain text works without color and that malformed replies do not need to become tracebacks or expose the 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python scripts/demo_offline.py. The banner says SYNTHETIC: these are fixed mocked replies, not a new live GraphHopper route. The second coordinates must reach routing. Exports retain directions even when terminal summary mode is selected.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offline replay, show history viewing and TXT/CSV export after the initial JSON export. The script verifies that only the initial three mocked HTTP calls occurred. Explain that there is no persistent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python scripts/run_offline_tests.py. The runner clears the real key, disables dotenv loading and blocks unmocked HTTP/socket connections. Failure and empty discovery return nonzero status. Merged-main run: https://github.com/FlimsyOwl12/DEVASC-Project/actions/runs/39132132376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were recorded October 14 using Manila City Hall to Quezon Memorial Circle. They predate F7/F8, are historical account-specific results, and are not a claim that this presentation made live requests. Source: docs/live-verification.md. Never show the API key or full credential-bearing URL.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DRAFT records Justine Smith Rendaje as scrum leader, Wilhelm Ramesh Dimacisil as recorder, and John Jessienel Arquesola / Janwel Gilo as Prompt Engineers. Each member should describe work they actually did and can explain. Personal contribution/challenge/lesson statements are still awaiting confirmation. PR #27 has an LGTM comment recorded as COMMENTED, not a formal APPROVED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Jenkins 2.580.1 is running. Original #1 passed manually, and SCM polling started #2 automatically. On the separate demo job, #1 at bdd74ce failed exactly one intentional test; reverting only that test produced ed43bde and automatic Demo #2 passed 69 tests. After PRs #30/#28 merged, original build #5 checked out c6d34d5 and passed 69 tests in 0.486 seconds with its report archived. The original job targets main and the demo job is disabled with its history retained. Open the saved failure/recovery/main reports and screenshots. See docs/jenkins-evidence.md and handoff PR #32. Polling is verified; webhook delivery and instructor acceptance are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distinguishing implemented application features from unfinished course deliverables. The supplied instructor guide lists required rubrics but does not include the detailed student questions/scoring criteria. Obtain the actual rubric, rather than inventing grades or personal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Supporting local materials: docs/final-report.md and docs/test-results.md (final report PR); docs/demo-guide.md; docs/team-reflection.md; docs/jenkins-local-setup.md (Jenkins PR); docs/live-verification.md. Also use the supplied DEVASC Project.pdf and REST API lab. PRs #28/#30 are merged. Report PR #29, presentation PR #31 and shared handoff PR #32 still need review/merge. Build #5 verified main at c6d34d5; do not describe later documentation as already merged.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github.com/FlimsyOwl12/DEVASC-Project/pull/27" TargetMode="External"/><Relationship Id="rId4" Type="http://schemas.openxmlformats.org/officeDocument/2006/relationships/hyperlink" Target="https://github.com/FlimsyOwl12/DEVASC-Project/actions/runs/39132132376" TargetMode="External"/><Relationship Id="rId5" Type="http://schemas.openxmlformats.org/officeDocument/2006/relationships/hyperlink" Target="https://github.com/FlimsyOwl12/DEVASC-Project" TargetMode="External"/><Relationship Id="rId6" Type="http://schemas.openxmlformats.org/officeDocument/2006/relationships/hyperlink" Target="https://github.com/Cocoasaur/devasc-graphhopper-api/tree/2289d4d" TargetMode="External"/><Relationship Id="rId7" Type="http://schemas.openxmlformats.org/officeDocument/2006/relationships/hyperlink" Target="https://github.com/FlimsyOwl12/DEVASC-Project/blob/main/docs/jenkins-evidence.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01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731520" y="1463040"/>
            <a:ext cx="10789920" cy="1920240"/>
          </a:xfrm>
          <a:prstGeom prst="rect">
            <a:avLst/>
          </a:prstGeom>
          <a:noFill/>
        </p:spPr>
        <p:txBody>
          <a:bodyPr wrap="square" lIns="0" rIns="0" tIns="0" bIns="0">
            <a:spAutoFit/>
          </a:bodyPr>
          <a:lstStyle/>
          <a:p>
            <a:pPr>
              <a:spcAft>
                <a:spcPts val="600"/>
              </a:spcAft>
            </a:pPr>
            <a:r>
              <a:rPr sz="4400" b="1">
                <a:solidFill>
                  <a:srgbClr val="183447"/>
                </a:solidFill>
                <a:latin typeface="Arial"/>
              </a:rPr>
              <a:t>Routes you can read,</a:t>
            </a:r>
          </a:p>
          <a:p>
            <a:pPr>
              <a:spcAft>
                <a:spcPts val="600"/>
              </a:spcAft>
            </a:pPr>
            <a:r>
              <a:rPr sz="4400" b="1">
                <a:solidFill>
                  <a:srgbClr val="183447"/>
                </a:solidFill>
                <a:latin typeface="Arial"/>
              </a:rPr>
              <a:t>choose and save</a:t>
            </a:r>
          </a:p>
        </p:txBody>
      </p:sp>
      <p:sp>
        <p:nvSpPr>
          <p:cNvPr id="6" name="TextBox 5"/>
          <p:cNvSpPr txBox="1"/>
          <p:nvPr/>
        </p:nvSpPr>
        <p:spPr>
          <a:xfrm>
            <a:off x="777240" y="3749039"/>
            <a:ext cx="10058400" cy="548640"/>
          </a:xfrm>
          <a:prstGeom prst="rect">
            <a:avLst/>
          </a:prstGeom>
          <a:noFill/>
        </p:spPr>
        <p:txBody>
          <a:bodyPr wrap="square" lIns="0" rIns="0" tIns="0" bIns="0">
            <a:spAutoFit/>
          </a:bodyPr>
          <a:lstStyle/>
          <a:p>
            <a:pPr>
              <a:spcAft>
                <a:spcPts val="600"/>
              </a:spcAft>
            </a:pPr>
            <a:r>
              <a:rPr sz="2600" b="1">
                <a:solidFill>
                  <a:srgbClr val="087F78"/>
                </a:solidFill>
                <a:latin typeface="Arial"/>
              </a:rPr>
              <a:t>Python + GraphHopper REST API</a:t>
            </a:r>
          </a:p>
        </p:txBody>
      </p:sp>
      <p:sp>
        <p:nvSpPr>
          <p:cNvPr id="7" name="TextBox 6"/>
          <p:cNvSpPr txBox="1"/>
          <p:nvPr/>
        </p:nvSpPr>
        <p:spPr>
          <a:xfrm>
            <a:off x="777240" y="4663440"/>
            <a:ext cx="10058400" cy="822960"/>
          </a:xfrm>
          <a:prstGeom prst="rect">
            <a:avLst/>
          </a:prstGeom>
          <a:noFill/>
        </p:spPr>
        <p:txBody>
          <a:bodyPr wrap="square" lIns="0" rIns="0" tIns="0" bIns="0">
            <a:spAutoFit/>
          </a:bodyPr>
          <a:lstStyle/>
          <a:p>
            <a:pPr>
              <a:spcAft>
                <a:spcPts val="600"/>
              </a:spcAft>
            </a:pPr>
            <a:r>
              <a:rPr sz="2000" b="0">
                <a:solidFill>
                  <a:srgbClr val="526574"/>
                </a:solidFill>
                <a:latin typeface="Arial"/>
              </a:rPr>
              <a:t>PalpakGPT</a:t>
            </a:r>
          </a:p>
          <a:p>
            <a:pPr>
              <a:spcAft>
                <a:spcPts val="600"/>
              </a:spcAft>
            </a:pPr>
            <a:r>
              <a:rPr sz="2000" b="0">
                <a:solidFill>
                  <a:srgbClr val="526574"/>
                </a:solidFill>
                <a:latin typeface="Arial"/>
              </a:rPr>
              <a:t>Activities 3 and 4 | October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02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What problem are we solving?</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Choose the intended place</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Several places may share the same name. The user needs enough detail to choose.</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Read a useful route</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Show familiar units, clear totals and directions without asking users to read JSON.</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Keep the result</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Save directions locally and reuse a route during the same session.</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Build on the lab</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Retain the REST API workflow while improving input, output and error handling.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03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From terminal input to a reusable route</a:t>
            </a:r>
          </a:p>
        </p:txBody>
      </p:sp>
      <p:sp>
        <p:nvSpPr>
          <p:cNvPr id="6" name="Rounded Rectangle 5"/>
          <p:cNvSpPr/>
          <p:nvPr/>
        </p:nvSpPr>
        <p:spPr>
          <a:xfrm>
            <a:off x="594360" y="1874519"/>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1 / Choose options</a:t>
            </a:r>
          </a:p>
        </p:txBody>
      </p:sp>
      <p:sp>
        <p:nvSpPr>
          <p:cNvPr id="8" name="TextBox 7"/>
          <p:cNvSpPr txBox="1"/>
          <p:nvPr/>
        </p:nvSpPr>
        <p:spPr>
          <a:xfrm>
            <a:off x="795528" y="2496312"/>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Travel profile, metric/imperial units, summary/detailed output.</a:t>
            </a:r>
          </a:p>
        </p:txBody>
      </p:sp>
      <p:sp>
        <p:nvSpPr>
          <p:cNvPr id="9" name="Rounded Rectangle 8"/>
          <p:cNvSpPr/>
          <p:nvPr/>
        </p:nvSpPr>
        <p:spPr>
          <a:xfrm>
            <a:off x="6217920" y="1874519"/>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2 / Geocode origin</a:t>
            </a:r>
          </a:p>
        </p:txBody>
      </p:sp>
      <p:sp>
        <p:nvSpPr>
          <p:cNvPr id="11" name="TextBox 10"/>
          <p:cNvSpPr txBox="1"/>
          <p:nvPr/>
        </p:nvSpPr>
        <p:spPr>
          <a:xfrm>
            <a:off x="6419088" y="2496312"/>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Validate up to five candidates; show coordinates and accept the selected place.</a:t>
            </a:r>
          </a:p>
        </p:txBody>
      </p:sp>
      <p:sp>
        <p:nvSpPr>
          <p:cNvPr id="12" name="Rounded Rectangle 11"/>
          <p:cNvSpPr/>
          <p:nvPr/>
        </p:nvSpPr>
        <p:spPr>
          <a:xfrm>
            <a:off x="594360" y="3246120"/>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3924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3 / Geocode destination</a:t>
            </a:r>
          </a:p>
        </p:txBody>
      </p:sp>
      <p:sp>
        <p:nvSpPr>
          <p:cNvPr id="14" name="TextBox 13"/>
          <p:cNvSpPr txBox="1"/>
          <p:nvPr/>
        </p:nvSpPr>
        <p:spPr>
          <a:xfrm>
            <a:off x="795528" y="3867911"/>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Choose the destination; stop safely if a location is not found.</a:t>
            </a:r>
          </a:p>
        </p:txBody>
      </p:sp>
      <p:sp>
        <p:nvSpPr>
          <p:cNvPr id="15" name="Rounded Rectangle 14"/>
          <p:cNvSpPr/>
          <p:nvPr/>
        </p:nvSpPr>
        <p:spPr>
          <a:xfrm>
            <a:off x="6217920" y="3246120"/>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33924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4 / Request routing</a:t>
            </a:r>
          </a:p>
        </p:txBody>
      </p:sp>
      <p:sp>
        <p:nvSpPr>
          <p:cNvPr id="17" name="TextBox 16"/>
          <p:cNvSpPr txBox="1"/>
          <p:nvPr/>
        </p:nvSpPr>
        <p:spPr>
          <a:xfrm>
            <a:off x="6419088" y="3867911"/>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Send the selected coordinates and profile; validate the JSON path.</a:t>
            </a:r>
          </a:p>
        </p:txBody>
      </p:sp>
      <p:sp>
        <p:nvSpPr>
          <p:cNvPr id="18" name="Rounded Rectangle 17"/>
          <p:cNvSpPr/>
          <p:nvPr/>
        </p:nvSpPr>
        <p:spPr>
          <a:xfrm>
            <a:off x="594360" y="4617720"/>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7640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5 / Display and remember</a:t>
            </a:r>
          </a:p>
        </p:txBody>
      </p:sp>
      <p:sp>
        <p:nvSpPr>
          <p:cNvPr id="20" name="TextBox 19"/>
          <p:cNvSpPr txBox="1"/>
          <p:nvPr/>
        </p:nvSpPr>
        <p:spPr>
          <a:xfrm>
            <a:off x="795528" y="5239512"/>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Print totals/directions; retain the last ten successful routes.</a:t>
            </a:r>
          </a:p>
        </p:txBody>
      </p:sp>
      <p:sp>
        <p:nvSpPr>
          <p:cNvPr id="21" name="Rounded Rectangle 20"/>
          <p:cNvSpPr/>
          <p:nvPr/>
        </p:nvSpPr>
        <p:spPr>
          <a:xfrm>
            <a:off x="6217920" y="4617720"/>
            <a:ext cx="5376672"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47640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6 / Export locally</a:t>
            </a:r>
          </a:p>
        </p:txBody>
      </p:sp>
      <p:sp>
        <p:nvSpPr>
          <p:cNvPr id="23" name="TextBox 22"/>
          <p:cNvSpPr txBox="1"/>
          <p:nvPr/>
        </p:nvSpPr>
        <p:spPr>
          <a:xfrm>
            <a:off x="6419088" y="5239512"/>
            <a:ext cx="4937760" cy="566928"/>
          </a:xfrm>
          <a:prstGeom prst="rect">
            <a:avLst/>
          </a:prstGeom>
          <a:noFill/>
        </p:spPr>
        <p:txBody>
          <a:bodyPr wrap="square" lIns="0" rIns="0" tIns="0" bIns="0">
            <a:spAutoFit/>
          </a:bodyPr>
          <a:lstStyle/>
          <a:p>
            <a:pPr>
              <a:spcAft>
                <a:spcPts val="600"/>
              </a:spcAft>
            </a:pPr>
            <a:r>
              <a:rPr sz="1700" b="0">
                <a:solidFill>
                  <a:srgbClr val="183447"/>
                </a:solidFill>
                <a:latin typeface="Arial"/>
              </a:rPr>
              <a:t>TXT, JSON or CSV; check filenames and avoid silent overwrites.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04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Core enhancements: F1 to F4</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F1 / Units</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Metric or imperial values apply to totals and every direction step.</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F2 / Clear output</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Aligned summary, HH:MM:SS duration and numbered plain-text directions.</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F3 / Output mode</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Summary retains totals; detailed mode also shows directions.</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F4 / Response checks</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Validate fields and numeric ranges; recover safely and redact the key.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05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F7 / Save a route. F8 / Choose a place.</a:t>
            </a:r>
          </a:p>
        </p:txBody>
      </p:sp>
      <p:sp>
        <p:nvSpPr>
          <p:cNvPr id="6" name="Rounded Rectangle 5"/>
          <p:cNvSpPr/>
          <p:nvPr/>
        </p:nvSpPr>
        <p:spPr>
          <a:xfrm>
            <a:off x="594360" y="1828800"/>
            <a:ext cx="10972800" cy="4389120"/>
          </a:xfrm>
          <a:prstGeom prst="roundRect">
            <a:avLst/>
          </a:prstGeom>
          <a:solidFill>
            <a:srgbClr val="183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10424160" cy="320040"/>
          </a:xfrm>
          <a:prstGeom prst="rect">
            <a:avLst/>
          </a:prstGeom>
          <a:noFill/>
        </p:spPr>
        <p:txBody>
          <a:bodyPr wrap="square" lIns="0" rIns="0" tIns="0" bIns="0">
            <a:spAutoFit/>
          </a:bodyPr>
          <a:lstStyle/>
          <a:p>
            <a:pPr>
              <a:spcAft>
                <a:spcPts val="600"/>
              </a:spcAft>
            </a:pPr>
            <a:r>
              <a:rPr sz="1300" b="1">
                <a:solidFill>
                  <a:srgbClr val="80D4C6"/>
                </a:solidFill>
                <a:latin typeface="Arial"/>
              </a:rPr>
              <a:t>SYNTHETIC OFFLINE DEMO</a:t>
            </a:r>
          </a:p>
        </p:txBody>
      </p:sp>
      <p:sp>
        <p:nvSpPr>
          <p:cNvPr id="8" name="TextBox 7"/>
          <p:cNvSpPr txBox="1"/>
          <p:nvPr/>
        </p:nvSpPr>
        <p:spPr>
          <a:xfrm>
            <a:off x="868680" y="2514600"/>
            <a:ext cx="10424160" cy="3566160"/>
          </a:xfrm>
          <a:prstGeom prst="rect">
            <a:avLst/>
          </a:prstGeom>
          <a:noFill/>
        </p:spPr>
        <p:txBody>
          <a:bodyPr wrap="square" lIns="0" rIns="0" tIns="0" bIns="0">
            <a:spAutoFit/>
          </a:bodyPr>
          <a:lstStyle/>
          <a:p>
            <a:pPr>
              <a:spcAft>
                <a:spcPts val="600"/>
              </a:spcAft>
            </a:pPr>
            <a:r>
              <a:rPr sz="1700" b="0">
                <a:solidFill>
                  <a:srgbClr val="FFFFFF"/>
                </a:solidFill>
                <a:latin typeface="DejaVu Sans Mono"/>
              </a:rPr>
              <a:t>1. Central Park, Example City (lat: 10.0, lng: 20.0)</a:t>
            </a:r>
          </a:p>
          <a:p>
            <a:pPr>
              <a:spcAft>
                <a:spcPts val="600"/>
              </a:spcAft>
            </a:pPr>
            <a:r>
              <a:rPr sz="1700" b="0">
                <a:solidFill>
                  <a:srgbClr val="FFFFFF"/>
                </a:solidFill>
                <a:latin typeface="DejaVu Sans Mono"/>
              </a:rPr>
              <a:t>2. Central Park, Example City (lat: 11.0, lng: 21.0)</a:t>
            </a:r>
          </a:p>
          <a:p>
            <a:pPr>
              <a:spcAft>
                <a:spcPts val="600"/>
              </a:spcAft>
            </a:pPr>
            <a:r>
              <a:rPr sz="1700" b="0">
                <a:solidFill>
                  <a:srgbClr val="FFFFFF"/>
                </a:solidFill>
                <a:latin typeface="DejaVu Sans Mono"/>
              </a:rPr>
              <a:t>Select a location: 2</a:t>
            </a:r>
          </a:p>
          <a:p>
            <a:pPr>
              <a:spcAft>
                <a:spcPts val="600"/>
              </a:spcAft>
            </a:pPr>
            <a:r>
              <a:rPr sz="1700" b="0">
                <a:solidFill>
                  <a:srgbClr val="FFFFFF"/>
                </a:solidFill>
                <a:latin typeface="DejaVu Sans Mono"/>
              </a:rPr>
              <a:t/>
            </a:r>
          </a:p>
          <a:p>
            <a:pPr>
              <a:spcAft>
                <a:spcPts val="600"/>
              </a:spcAft>
            </a:pPr>
            <a:r>
              <a:rPr sz="1700" b="0">
                <a:solidFill>
                  <a:srgbClr val="FFFFFF"/>
                </a:solidFill>
                <a:latin typeface="DejaVu Sans Mono"/>
              </a:rPr>
              <a:t>Distance    : 2.0 miles</a:t>
            </a:r>
          </a:p>
          <a:p>
            <a:pPr>
              <a:spcAft>
                <a:spcPts val="600"/>
              </a:spcAft>
            </a:pPr>
            <a:r>
              <a:rPr sz="1700" b="0">
                <a:solidFill>
                  <a:srgbClr val="FFFFFF"/>
                </a:solidFill>
                <a:latin typeface="DejaVu Sans Mono"/>
              </a:rPr>
              <a:t>Duration    : 00:10:00</a:t>
            </a:r>
          </a:p>
          <a:p>
            <a:pPr>
              <a:spcAft>
                <a:spcPts val="600"/>
              </a:spcAft>
            </a:pPr>
            <a:r>
              <a:rPr sz="1700" b="0">
                <a:solidFill>
                  <a:srgbClr val="FFFFFF"/>
                </a:solidFill>
                <a:latin typeface="DejaVu Sans Mono"/>
              </a:rPr>
              <a:t>1. Turn left onto Example Street (1.0 miles)</a:t>
            </a:r>
          </a:p>
          <a:p>
            <a:pPr>
              <a:spcAft>
                <a:spcPts val="600"/>
              </a:spcAft>
            </a:pPr>
            <a:r>
              <a:rPr sz="1700" b="0">
                <a:solidFill>
                  <a:srgbClr val="FFFFFF"/>
                </a:solidFill>
                <a:latin typeface="DejaVu Sans Mono"/>
              </a:rPr>
              <a:t>2. Arrive at Demo Destination (1.0 miles)</a:t>
            </a:r>
          </a:p>
          <a:p>
            <a:pPr>
              <a:spcAft>
                <a:spcPts val="600"/>
              </a:spcAft>
            </a:pPr>
            <a:r>
              <a:rPr sz="1700" b="0">
                <a:solidFill>
                  <a:srgbClr val="FFFFFF"/>
                </a:solidFill>
                <a:latin typeface="DejaVu Sans Mono"/>
              </a:rPr>
              <a:t/>
            </a:r>
          </a:p>
          <a:p>
            <a:pPr>
              <a:spcAft>
                <a:spcPts val="600"/>
              </a:spcAft>
            </a:pPr>
            <a:r>
              <a:rPr sz="1700" b="0">
                <a:solidFill>
                  <a:srgbClr val="FFFFFF"/>
                </a:solidFill>
                <a:latin typeface="DejaVu Sans Mono"/>
              </a:rPr>
              <a:t>Export formats: TXT | JSON | 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06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Menu and session history</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Find a Route</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Run the profile, unit, output-mode and location-selection workflow.</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View Route History</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Inspect any of the last ten successful routes without another HTTP request.</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Export Previous Route</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Save an existing session record in another supported format.</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Session boundary</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History is in memory. It disappears when the application exits.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07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Verification we can reproduce</a:t>
            </a:r>
          </a:p>
        </p:txBody>
      </p:sp>
      <p:sp>
        <p:nvSpPr>
          <p:cNvPr id="6" name="Rounded Rectangle 5"/>
          <p:cNvSpPr/>
          <p:nvPr/>
        </p:nvSpPr>
        <p:spPr>
          <a:xfrm>
            <a:off x="594360" y="2103120"/>
            <a:ext cx="3493008"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68880"/>
            <a:ext cx="3017520" cy="1097280"/>
          </a:xfrm>
          <a:prstGeom prst="rect">
            <a:avLst/>
          </a:prstGeom>
          <a:noFill/>
        </p:spPr>
        <p:txBody>
          <a:bodyPr wrap="square" lIns="0" rIns="0" tIns="0" bIns="0">
            <a:spAutoFit/>
          </a:bodyPr>
          <a:lstStyle/>
          <a:p>
            <a:pPr>
              <a:spcAft>
                <a:spcPts val="600"/>
              </a:spcAft>
            </a:pPr>
            <a:r>
              <a:rPr sz="6400" b="1">
                <a:solidFill>
                  <a:srgbClr val="087F78"/>
                </a:solidFill>
                <a:latin typeface="Arial"/>
              </a:rPr>
              <a:t>69</a:t>
            </a:r>
          </a:p>
        </p:txBody>
      </p:sp>
      <p:sp>
        <p:nvSpPr>
          <p:cNvPr id="8" name="TextBox 7"/>
          <p:cNvSpPr txBox="1"/>
          <p:nvPr/>
        </p:nvSpPr>
        <p:spPr>
          <a:xfrm>
            <a:off x="822960" y="3840480"/>
            <a:ext cx="2971800" cy="914400"/>
          </a:xfrm>
          <a:prstGeom prst="rect">
            <a:avLst/>
          </a:prstGeom>
          <a:noFill/>
        </p:spPr>
        <p:txBody>
          <a:bodyPr wrap="square" lIns="0" rIns="0" tIns="0" bIns="0">
            <a:spAutoFit/>
          </a:bodyPr>
          <a:lstStyle/>
          <a:p>
            <a:pPr>
              <a:spcAft>
                <a:spcPts val="600"/>
              </a:spcAft>
            </a:pPr>
            <a:r>
              <a:rPr sz="2100" b="0">
                <a:solidFill>
                  <a:srgbClr val="183447"/>
                </a:solidFill>
                <a:latin typeface="Arial"/>
              </a:rPr>
              <a:t>offline unittest cases</a:t>
            </a:r>
          </a:p>
        </p:txBody>
      </p:sp>
      <p:sp>
        <p:nvSpPr>
          <p:cNvPr id="9" name="Rounded Rectangle 8"/>
          <p:cNvSpPr/>
          <p:nvPr/>
        </p:nvSpPr>
        <p:spPr>
          <a:xfrm>
            <a:off x="4325112" y="2103120"/>
            <a:ext cx="3493008"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468880"/>
            <a:ext cx="3017520" cy="1097280"/>
          </a:xfrm>
          <a:prstGeom prst="rect">
            <a:avLst/>
          </a:prstGeom>
          <a:noFill/>
        </p:spPr>
        <p:txBody>
          <a:bodyPr wrap="square" lIns="0" rIns="0" tIns="0" bIns="0">
            <a:spAutoFit/>
          </a:bodyPr>
          <a:lstStyle/>
          <a:p>
            <a:pPr>
              <a:spcAft>
                <a:spcPts val="600"/>
              </a:spcAft>
            </a:pPr>
            <a:r>
              <a:rPr sz="6400" b="1">
                <a:solidFill>
                  <a:srgbClr val="087F78"/>
                </a:solidFill>
                <a:latin typeface="Arial"/>
              </a:rPr>
              <a:t>2</a:t>
            </a:r>
          </a:p>
        </p:txBody>
      </p:sp>
      <p:sp>
        <p:nvSpPr>
          <p:cNvPr id="11" name="TextBox 10"/>
          <p:cNvSpPr txBox="1"/>
          <p:nvPr/>
        </p:nvSpPr>
        <p:spPr>
          <a:xfrm>
            <a:off x="4553712" y="3840480"/>
            <a:ext cx="2971800" cy="914400"/>
          </a:xfrm>
          <a:prstGeom prst="rect">
            <a:avLst/>
          </a:prstGeom>
          <a:noFill/>
        </p:spPr>
        <p:txBody>
          <a:bodyPr wrap="square" lIns="0" rIns="0" tIns="0" bIns="0">
            <a:spAutoFit/>
          </a:bodyPr>
          <a:lstStyle/>
          <a:p>
            <a:pPr>
              <a:spcAft>
                <a:spcPts val="600"/>
              </a:spcAft>
            </a:pPr>
            <a:r>
              <a:rPr sz="2100" b="0">
                <a:solidFill>
                  <a:srgbClr val="183447"/>
                </a:solidFill>
                <a:latin typeface="Arial"/>
              </a:rPr>
              <a:t>CI Python versions: 3.10 / 3.14</a:t>
            </a:r>
          </a:p>
        </p:txBody>
      </p:sp>
      <p:sp>
        <p:nvSpPr>
          <p:cNvPr id="12" name="Rounded Rectangle 11"/>
          <p:cNvSpPr/>
          <p:nvPr/>
        </p:nvSpPr>
        <p:spPr>
          <a:xfrm>
            <a:off x="8055864" y="2103120"/>
            <a:ext cx="3493008"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2468880"/>
            <a:ext cx="3017520" cy="1097280"/>
          </a:xfrm>
          <a:prstGeom prst="rect">
            <a:avLst/>
          </a:prstGeom>
          <a:noFill/>
        </p:spPr>
        <p:txBody>
          <a:bodyPr wrap="square" lIns="0" rIns="0" tIns="0" bIns="0">
            <a:spAutoFit/>
          </a:bodyPr>
          <a:lstStyle/>
          <a:p>
            <a:pPr>
              <a:spcAft>
                <a:spcPts val="600"/>
              </a:spcAft>
            </a:pPr>
            <a:r>
              <a:rPr sz="6400" b="1">
                <a:solidFill>
                  <a:srgbClr val="087F78"/>
                </a:solidFill>
                <a:latin typeface="Arial"/>
              </a:rPr>
              <a:t>0</a:t>
            </a:r>
          </a:p>
        </p:txBody>
      </p:sp>
      <p:sp>
        <p:nvSpPr>
          <p:cNvPr id="14" name="TextBox 13"/>
          <p:cNvSpPr txBox="1"/>
          <p:nvPr/>
        </p:nvSpPr>
        <p:spPr>
          <a:xfrm>
            <a:off x="8284464" y="3840480"/>
            <a:ext cx="2971800" cy="914400"/>
          </a:xfrm>
          <a:prstGeom prst="rect">
            <a:avLst/>
          </a:prstGeom>
          <a:noFill/>
        </p:spPr>
        <p:txBody>
          <a:bodyPr wrap="square" lIns="0" rIns="0" tIns="0" bIns="0">
            <a:spAutoFit/>
          </a:bodyPr>
          <a:lstStyle/>
          <a:p>
            <a:pPr>
              <a:spcAft>
                <a:spcPts val="600"/>
              </a:spcAft>
            </a:pPr>
            <a:r>
              <a:rPr sz="2100" b="0">
                <a:solidFill>
                  <a:srgbClr val="183447"/>
                </a:solidFill>
                <a:latin typeface="Arial"/>
              </a:rPr>
              <a:t>live API calls in the offline suite</a:t>
            </a:r>
          </a:p>
        </p:txBody>
      </p:sp>
      <p:sp>
        <p:nvSpPr>
          <p:cNvPr id="15" name="TextBox 14"/>
          <p:cNvSpPr txBox="1"/>
          <p:nvPr/>
        </p:nvSpPr>
        <p:spPr>
          <a:xfrm>
            <a:off x="731520" y="5486400"/>
            <a:ext cx="10789920" cy="502920"/>
          </a:xfrm>
          <a:prstGeom prst="rect">
            <a:avLst/>
          </a:prstGeom>
          <a:noFill/>
        </p:spPr>
        <p:txBody>
          <a:bodyPr wrap="square" lIns="0" rIns="0" tIns="0" bIns="0">
            <a:spAutoFit/>
          </a:bodyPr>
          <a:lstStyle/>
          <a:p>
            <a:pPr>
              <a:spcAft>
                <a:spcPts val="600"/>
              </a:spcAft>
            </a:pPr>
            <a:r>
              <a:rPr sz="2200" b="0">
                <a:solidFill>
                  <a:srgbClr val="526574"/>
                </a:solidFill>
                <a:latin typeface="Arial"/>
              </a:rPr>
              <a:t>GitHub CI + Jenkins main build #5: all 69 tests passed.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08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Live evidence is a separate record</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Car</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11.6 km | 1,079,659 ms | 10 direction steps</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Bike</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12.4 km | 2,532,665 ms | 39 direction steps</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Foot</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11.6 km | 8,585,308 ms | 72 direction steps</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Disconnected route</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Manila to Honolulu: HTTP 400, connection between locations not found.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09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Collaboration and review evidence</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Scoped integration</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F1/F2/F4/F3: PRs #21–#24. F9 pipeline code: PR #26.</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F7/F8 batch</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PR #27 merged October 18; exports, candidate selection, menu and history.</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Review fixes</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Show coordinates for identical labels; remove nine tracked cache files.</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Attribution</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Confirm each member's real contribution. Upload identity is not sole authorship.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10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Activity 4: Jenkins is required</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Pipeline stages</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Checkout → Install dependencies → Offline tests → Archive report.</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Automatic detection</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SCM polling started original build #2 and Demo recovery #2. Webhook delivery is unverified.</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Failure and recovery</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Demo #1: 70 tests, one intentional failure. Demo #2: 69 passing tests.</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Main verified</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Build #5 at c6d34d5: 69 tests passed, report archived, SUCCESS.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11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Limits and the final team handoff</a:t>
            </a:r>
          </a:p>
        </p:txBody>
      </p:sp>
      <p:sp>
        <p:nvSpPr>
          <p:cNvPr id="6" name="Rounded Rectangle 5"/>
          <p:cNvSpPr/>
          <p:nvPr/>
        </p:nvSpPr>
        <p:spPr>
          <a:xfrm>
            <a:off x="59436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Provider limits</a:t>
            </a:r>
          </a:p>
        </p:txBody>
      </p:sp>
      <p:sp>
        <p:nvSpPr>
          <p:cNvPr id="8" name="TextBox 7"/>
          <p:cNvSpPr txBox="1"/>
          <p:nvPr/>
        </p:nvSpPr>
        <p:spPr>
          <a:xfrm>
            <a:off x="79552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Coverage, quotas, profile access and availability depend on the API/account.</a:t>
            </a:r>
          </a:p>
        </p:txBody>
      </p:sp>
      <p:sp>
        <p:nvSpPr>
          <p:cNvPr id="9" name="Rounded Rectangle 8"/>
          <p:cNvSpPr/>
          <p:nvPr/>
        </p:nvSpPr>
        <p:spPr>
          <a:xfrm>
            <a:off x="6217920" y="187451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02082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Application limits</a:t>
            </a:r>
          </a:p>
        </p:txBody>
      </p:sp>
      <p:sp>
        <p:nvSpPr>
          <p:cNvPr id="11" name="TextBox 10"/>
          <p:cNvSpPr txBox="1"/>
          <p:nvPr/>
        </p:nvSpPr>
        <p:spPr>
          <a:xfrm>
            <a:off x="6419088" y="2496312"/>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Terminal UI; no map/database; only ten in-memory session records.</a:t>
            </a:r>
          </a:p>
        </p:txBody>
      </p:sp>
      <p:sp>
        <p:nvSpPr>
          <p:cNvPr id="12" name="Rounded Rectangle 11"/>
          <p:cNvSpPr/>
          <p:nvPr/>
        </p:nvSpPr>
        <p:spPr>
          <a:xfrm>
            <a:off x="59436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Team confirmation</a:t>
            </a:r>
          </a:p>
        </p:txBody>
      </p:sp>
      <p:sp>
        <p:nvSpPr>
          <p:cNvPr id="14" name="TextBox 13"/>
          <p:cNvSpPr txBox="1"/>
          <p:nvPr/>
        </p:nvSpPr>
        <p:spPr>
          <a:xfrm>
            <a:off x="79552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Feature owners, actual contributions, scope approval and the presentation rehearsal.</a:t>
            </a:r>
          </a:p>
        </p:txBody>
      </p:sp>
      <p:sp>
        <p:nvSpPr>
          <p:cNvPr id="15" name="Rounded Rectangle 14"/>
          <p:cNvSpPr/>
          <p:nvPr/>
        </p:nvSpPr>
        <p:spPr>
          <a:xfrm>
            <a:off x="6217920" y="3977639"/>
            <a:ext cx="5376672"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4123944"/>
            <a:ext cx="4974336" cy="384048"/>
          </a:xfrm>
          <a:prstGeom prst="rect">
            <a:avLst/>
          </a:prstGeom>
          <a:noFill/>
        </p:spPr>
        <p:txBody>
          <a:bodyPr wrap="square" lIns="0" rIns="0" tIns="0" bIns="0">
            <a:spAutoFit/>
          </a:bodyPr>
          <a:lstStyle/>
          <a:p>
            <a:pPr>
              <a:spcAft>
                <a:spcPts val="600"/>
              </a:spcAft>
            </a:pPr>
            <a:r>
              <a:rPr sz="2100" b="1">
                <a:solidFill>
                  <a:srgbClr val="087F78"/>
                </a:solidFill>
                <a:latin typeface="Arial"/>
              </a:rPr>
              <a:t>Assessment still open</a:t>
            </a:r>
          </a:p>
        </p:txBody>
      </p:sp>
      <p:sp>
        <p:nvSpPr>
          <p:cNvPr id="17" name="TextBox 16"/>
          <p:cNvSpPr txBox="1"/>
          <p:nvPr/>
        </p:nvSpPr>
        <p:spPr>
          <a:xfrm>
            <a:off x="6419088" y="4599431"/>
            <a:ext cx="4937760" cy="1207007"/>
          </a:xfrm>
          <a:prstGeom prst="rect">
            <a:avLst/>
          </a:prstGeom>
          <a:noFill/>
        </p:spPr>
        <p:txBody>
          <a:bodyPr wrap="square" lIns="0" rIns="0" tIns="0" bIns="0">
            <a:spAutoFit/>
          </a:bodyPr>
          <a:lstStyle/>
          <a:p>
            <a:pPr>
              <a:spcAft>
                <a:spcPts val="600"/>
              </a:spcAft>
            </a:pPr>
            <a:r>
              <a:rPr sz="2000" b="0">
                <a:solidFill>
                  <a:srgbClr val="183447"/>
                </a:solidFill>
                <a:latin typeface="Arial"/>
              </a:rPr>
              <a:t>Complete the official rubric and personal reflections from actual experience.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pPr>
              <a:spcAft>
                <a:spcPts val="600"/>
              </a:spcAft>
            </a:pPr>
            <a:r>
              <a:rPr sz="1200" b="1">
                <a:solidFill>
                  <a:srgbClr val="087F78"/>
                </a:solidFill>
                <a:latin typeface="Arial"/>
              </a:rPr>
              <a:t>DEVASC / OPTION 1</a:t>
            </a:r>
          </a:p>
        </p:txBody>
      </p:sp>
      <p:sp>
        <p:nvSpPr>
          <p:cNvPr id="3" name="TextBox 2"/>
          <p:cNvSpPr txBox="1"/>
          <p:nvPr/>
        </p:nvSpPr>
        <p:spPr>
          <a:xfrm>
            <a:off x="10698480" y="320040"/>
            <a:ext cx="914400" cy="274320"/>
          </a:xfrm>
          <a:prstGeom prst="rect">
            <a:avLst/>
          </a:prstGeom>
          <a:noFill/>
        </p:spPr>
        <p:txBody>
          <a:bodyPr wrap="square" lIns="0" rIns="0" tIns="0" bIns="0">
            <a:spAutoFit/>
          </a:bodyPr>
          <a:lstStyle/>
          <a:p>
            <a:pPr>
              <a:spcAft>
                <a:spcPts val="600"/>
              </a:spcAft>
            </a:pPr>
            <a:r>
              <a:rPr sz="1200" b="0">
                <a:solidFill>
                  <a:srgbClr val="526574"/>
                </a:solidFill>
                <a:latin typeface="Arial"/>
              </a:rPr>
              <a:t>12 / 12</a:t>
            </a:r>
          </a:p>
        </p:txBody>
      </p:sp>
      <p:sp>
        <p:nvSpPr>
          <p:cNvPr id="4" name="TextBox 3"/>
          <p:cNvSpPr txBox="1"/>
          <p:nvPr/>
        </p:nvSpPr>
        <p:spPr>
          <a:xfrm>
            <a:off x="594360" y="6446520"/>
            <a:ext cx="10972800" cy="228600"/>
          </a:xfrm>
          <a:prstGeom prst="rect">
            <a:avLst/>
          </a:prstGeom>
          <a:noFill/>
        </p:spPr>
        <p:txBody>
          <a:bodyPr wrap="square" lIns="0" rIns="0" tIns="0" bIns="0">
            <a:spAutoFit/>
          </a:bodyPr>
          <a:lstStyle/>
          <a:p>
            <a:pPr>
              <a:spcAft>
                <a:spcPts val="600"/>
              </a:spcAft>
            </a:pPr>
            <a:r>
              <a:rPr sz="1100" b="0">
                <a:solidFill>
                  <a:srgbClr val="526574"/>
                </a:solidFill>
                <a:latin typeface="Arial"/>
              </a:rPr>
              <a:t>PalpakGPT  ·  Activities 3 + 4  ·  18 October 2026</a:t>
            </a:r>
          </a:p>
        </p:txBody>
      </p:sp>
      <p:sp>
        <p:nvSpPr>
          <p:cNvPr id="5" name="TextBox 4"/>
          <p:cNvSpPr txBox="1"/>
          <p:nvPr/>
        </p:nvSpPr>
        <p:spPr>
          <a:xfrm>
            <a:off x="594360" y="822960"/>
            <a:ext cx="10972800" cy="960120"/>
          </a:xfrm>
          <a:prstGeom prst="rect">
            <a:avLst/>
          </a:prstGeom>
          <a:noFill/>
        </p:spPr>
        <p:txBody>
          <a:bodyPr wrap="square" lIns="0" rIns="0" tIns="0" bIns="0">
            <a:spAutoFit/>
          </a:bodyPr>
          <a:lstStyle/>
          <a:p>
            <a:pPr>
              <a:spcAft>
                <a:spcPts val="600"/>
              </a:spcAft>
            </a:pPr>
            <a:r>
              <a:rPr sz="3100" b="1">
                <a:solidFill>
                  <a:srgbClr val="183447"/>
                </a:solidFill>
                <a:latin typeface="Arial"/>
              </a:rPr>
              <a:t>Evidence to open during questions</a:t>
            </a:r>
          </a:p>
        </p:txBody>
      </p:sp>
      <p:sp>
        <p:nvSpPr>
          <p:cNvPr id="6" name="TextBox 5"/>
          <p:cNvSpPr txBox="1"/>
          <p:nvPr/>
        </p:nvSpPr>
        <p:spPr>
          <a:xfrm>
            <a:off x="777240" y="1920240"/>
            <a:ext cx="10607040" cy="457200"/>
          </a:xfrm>
          <a:prstGeom prst="rect">
            <a:avLst/>
          </a:prstGeom>
          <a:noFill/>
        </p:spPr>
        <p:txBody>
          <a:bodyPr wrap="square" lIns="0" rIns="0" tIns="0" bIns="0">
            <a:spAutoFit/>
          </a:bodyPr>
          <a:lstStyle/>
          <a:p>
            <a:pPr>
              <a:spcAft>
                <a:spcPts val="600"/>
              </a:spcAft>
            </a:pPr>
            <a:r>
              <a:rPr sz="2400" b="1">
                <a:solidFill>
                  <a:srgbClr val="087F78"/>
                </a:solidFill>
                <a:latin typeface="Arial"/>
                <a:hlinkClick r:id="rId3"/>
              </a:rPr>
              <a:t>Merged F7/F8 changes / PR #27</a:t>
            </a:r>
          </a:p>
        </p:txBody>
      </p:sp>
      <p:sp>
        <p:nvSpPr>
          <p:cNvPr id="7" name="TextBox 6"/>
          <p:cNvSpPr txBox="1"/>
          <p:nvPr/>
        </p:nvSpPr>
        <p:spPr>
          <a:xfrm>
            <a:off x="777240" y="2395728"/>
            <a:ext cx="10607040" cy="320040"/>
          </a:xfrm>
          <a:prstGeom prst="rect">
            <a:avLst/>
          </a:prstGeom>
          <a:noFill/>
        </p:spPr>
        <p:txBody>
          <a:bodyPr wrap="square" lIns="0" rIns="0" tIns="0" bIns="0">
            <a:spAutoFit/>
          </a:bodyPr>
          <a:lstStyle/>
          <a:p>
            <a:pPr>
              <a:spcAft>
                <a:spcPts val="600"/>
              </a:spcAft>
            </a:pPr>
            <a:r>
              <a:rPr sz="1300" b="0">
                <a:solidFill>
                  <a:srgbClr val="526574"/>
                </a:solidFill>
                <a:latin typeface="Arial"/>
                <a:hlinkClick r:id="rId3"/>
              </a:rPr>
              <a:t>https://github.com/FlimsyOwl12/DEVASC-Project/pull/27</a:t>
            </a:r>
          </a:p>
        </p:txBody>
      </p:sp>
      <p:sp>
        <p:nvSpPr>
          <p:cNvPr id="8" name="TextBox 7"/>
          <p:cNvSpPr txBox="1"/>
          <p:nvPr/>
        </p:nvSpPr>
        <p:spPr>
          <a:xfrm>
            <a:off x="777240" y="2834640"/>
            <a:ext cx="10607040" cy="457200"/>
          </a:xfrm>
          <a:prstGeom prst="rect">
            <a:avLst/>
          </a:prstGeom>
          <a:noFill/>
        </p:spPr>
        <p:txBody>
          <a:bodyPr wrap="square" lIns="0" rIns="0" tIns="0" bIns="0">
            <a:spAutoFit/>
          </a:bodyPr>
          <a:lstStyle/>
          <a:p>
            <a:pPr>
              <a:spcAft>
                <a:spcPts val="600"/>
              </a:spcAft>
            </a:pPr>
            <a:r>
              <a:rPr sz="2400" b="1">
                <a:solidFill>
                  <a:srgbClr val="087F78"/>
                </a:solidFill>
                <a:latin typeface="Arial"/>
                <a:hlinkClick r:id="rId4"/>
              </a:rPr>
              <a:t>Merged-main 69-test CI run</a:t>
            </a:r>
          </a:p>
        </p:txBody>
      </p:sp>
      <p:sp>
        <p:nvSpPr>
          <p:cNvPr id="9" name="TextBox 8"/>
          <p:cNvSpPr txBox="1"/>
          <p:nvPr/>
        </p:nvSpPr>
        <p:spPr>
          <a:xfrm>
            <a:off x="777240" y="3310128"/>
            <a:ext cx="10607040" cy="320040"/>
          </a:xfrm>
          <a:prstGeom prst="rect">
            <a:avLst/>
          </a:prstGeom>
          <a:noFill/>
        </p:spPr>
        <p:txBody>
          <a:bodyPr wrap="square" lIns="0" rIns="0" tIns="0" bIns="0">
            <a:spAutoFit/>
          </a:bodyPr>
          <a:lstStyle/>
          <a:p>
            <a:pPr>
              <a:spcAft>
                <a:spcPts val="600"/>
              </a:spcAft>
            </a:pPr>
            <a:r>
              <a:rPr sz="1300" b="0">
                <a:solidFill>
                  <a:srgbClr val="526574"/>
                </a:solidFill>
                <a:latin typeface="Arial"/>
                <a:hlinkClick r:id="rId4"/>
              </a:rPr>
              <a:t>https://github.com/FlimsyOwl12/DEVASC-Project/actions/runs/39132132376</a:t>
            </a:r>
          </a:p>
        </p:txBody>
      </p:sp>
      <p:sp>
        <p:nvSpPr>
          <p:cNvPr id="10" name="TextBox 9"/>
          <p:cNvSpPr txBox="1"/>
          <p:nvPr/>
        </p:nvSpPr>
        <p:spPr>
          <a:xfrm>
            <a:off x="777240" y="3749039"/>
            <a:ext cx="10607040" cy="457200"/>
          </a:xfrm>
          <a:prstGeom prst="rect">
            <a:avLst/>
          </a:prstGeom>
          <a:noFill/>
        </p:spPr>
        <p:txBody>
          <a:bodyPr wrap="square" lIns="0" rIns="0" tIns="0" bIns="0">
            <a:spAutoFit/>
          </a:bodyPr>
          <a:lstStyle/>
          <a:p>
            <a:pPr>
              <a:spcAft>
                <a:spcPts val="600"/>
              </a:spcAft>
            </a:pPr>
            <a:r>
              <a:rPr sz="2400" b="1">
                <a:solidFill>
                  <a:srgbClr val="087F78"/>
                </a:solidFill>
                <a:latin typeface="Arial"/>
                <a:hlinkClick r:id="rId5"/>
              </a:rPr>
              <a:t>Repository and task tracker</a:t>
            </a:r>
          </a:p>
        </p:txBody>
      </p:sp>
      <p:sp>
        <p:nvSpPr>
          <p:cNvPr id="11" name="TextBox 10"/>
          <p:cNvSpPr txBox="1"/>
          <p:nvPr/>
        </p:nvSpPr>
        <p:spPr>
          <a:xfrm>
            <a:off x="777240" y="4224527"/>
            <a:ext cx="10607040" cy="320040"/>
          </a:xfrm>
          <a:prstGeom prst="rect">
            <a:avLst/>
          </a:prstGeom>
          <a:noFill/>
        </p:spPr>
        <p:txBody>
          <a:bodyPr wrap="square" lIns="0" rIns="0" tIns="0" bIns="0">
            <a:spAutoFit/>
          </a:bodyPr>
          <a:lstStyle/>
          <a:p>
            <a:pPr>
              <a:spcAft>
                <a:spcPts val="600"/>
              </a:spcAft>
            </a:pPr>
            <a:r>
              <a:rPr sz="1300" b="0">
                <a:solidFill>
                  <a:srgbClr val="526574"/>
                </a:solidFill>
                <a:latin typeface="Arial"/>
                <a:hlinkClick r:id="rId5"/>
              </a:rPr>
              <a:t>https://github.com/FlimsyOwl12/DEVASC-Project</a:t>
            </a:r>
          </a:p>
        </p:txBody>
      </p:sp>
      <p:sp>
        <p:nvSpPr>
          <p:cNvPr id="12" name="TextBox 11"/>
          <p:cNvSpPr txBox="1"/>
          <p:nvPr/>
        </p:nvSpPr>
        <p:spPr>
          <a:xfrm>
            <a:off x="777240" y="4663440"/>
            <a:ext cx="10607040" cy="457200"/>
          </a:xfrm>
          <a:prstGeom prst="rect">
            <a:avLst/>
          </a:prstGeom>
          <a:noFill/>
        </p:spPr>
        <p:txBody>
          <a:bodyPr wrap="square" lIns="0" rIns="0" tIns="0" bIns="0">
            <a:spAutoFit/>
          </a:bodyPr>
          <a:lstStyle/>
          <a:p>
            <a:pPr>
              <a:spcAft>
                <a:spcPts val="600"/>
              </a:spcAft>
            </a:pPr>
            <a:r>
              <a:rPr sz="2400" b="1">
                <a:solidFill>
                  <a:srgbClr val="087F78"/>
                </a:solidFill>
                <a:latin typeface="Arial"/>
                <a:hlinkClick r:id="rId6"/>
              </a:rPr>
              <a:t>Original lab reference</a:t>
            </a:r>
          </a:p>
        </p:txBody>
      </p:sp>
      <p:sp>
        <p:nvSpPr>
          <p:cNvPr id="13" name="TextBox 12"/>
          <p:cNvSpPr txBox="1"/>
          <p:nvPr/>
        </p:nvSpPr>
        <p:spPr>
          <a:xfrm>
            <a:off x="777240" y="5138927"/>
            <a:ext cx="10607040" cy="320040"/>
          </a:xfrm>
          <a:prstGeom prst="rect">
            <a:avLst/>
          </a:prstGeom>
          <a:noFill/>
        </p:spPr>
        <p:txBody>
          <a:bodyPr wrap="square" lIns="0" rIns="0" tIns="0" bIns="0">
            <a:spAutoFit/>
          </a:bodyPr>
          <a:lstStyle/>
          <a:p>
            <a:pPr>
              <a:spcAft>
                <a:spcPts val="600"/>
              </a:spcAft>
            </a:pPr>
            <a:r>
              <a:rPr sz="1300" b="0">
                <a:solidFill>
                  <a:srgbClr val="526574"/>
                </a:solidFill>
                <a:latin typeface="Arial"/>
                <a:hlinkClick r:id="rId6"/>
              </a:rPr>
              <a:t>https://github.com/Cocoasaur/devasc-graphhopper-api/tree/2289d4d</a:t>
            </a:r>
          </a:p>
        </p:txBody>
      </p:sp>
      <p:sp>
        <p:nvSpPr>
          <p:cNvPr id="14" name="TextBox 13"/>
          <p:cNvSpPr txBox="1"/>
          <p:nvPr/>
        </p:nvSpPr>
        <p:spPr>
          <a:xfrm>
            <a:off x="777240" y="5577840"/>
            <a:ext cx="10607040" cy="457200"/>
          </a:xfrm>
          <a:prstGeom prst="rect">
            <a:avLst/>
          </a:prstGeom>
          <a:noFill/>
        </p:spPr>
        <p:txBody>
          <a:bodyPr wrap="square" lIns="0" rIns="0" tIns="0" bIns="0">
            <a:spAutoFit/>
          </a:bodyPr>
          <a:lstStyle/>
          <a:p>
            <a:pPr>
              <a:spcAft>
                <a:spcPts val="600"/>
              </a:spcAft>
            </a:pPr>
            <a:r>
              <a:rPr sz="2400" b="1">
                <a:solidFill>
                  <a:srgbClr val="087F78"/>
                </a:solidFill>
                <a:latin typeface="Arial"/>
                <a:hlinkClick r:id="rId7"/>
              </a:rPr>
              <a:t>Jenkins build record / local links inside</a:t>
            </a:r>
          </a:p>
        </p:txBody>
      </p:sp>
      <p:sp>
        <p:nvSpPr>
          <p:cNvPr id="15" name="TextBox 14"/>
          <p:cNvSpPr txBox="1"/>
          <p:nvPr/>
        </p:nvSpPr>
        <p:spPr>
          <a:xfrm>
            <a:off x="777240" y="6053327"/>
            <a:ext cx="10607040" cy="320040"/>
          </a:xfrm>
          <a:prstGeom prst="rect">
            <a:avLst/>
          </a:prstGeom>
          <a:noFill/>
        </p:spPr>
        <p:txBody>
          <a:bodyPr wrap="square" lIns="0" rIns="0" tIns="0" bIns="0">
            <a:spAutoFit/>
          </a:bodyPr>
          <a:lstStyle/>
          <a:p>
            <a:pPr>
              <a:spcAft>
                <a:spcPts val="600"/>
              </a:spcAft>
            </a:pPr>
            <a:r>
              <a:rPr sz="1300" b="0">
                <a:solidFill>
                  <a:srgbClr val="526574"/>
                </a:solidFill>
                <a:latin typeface="Arial"/>
                <a:hlinkClick r:id="rId7"/>
              </a:rPr>
              <a:t>https://github.com/FlimsyOwl12/DEVASC-Project/blob/main/docs/jenkins-evidence.md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DEVASC Option 1 — GraphHopper enhancements</dc:title>
  <dc:subject/>
  <dc:creator>PalpakGPT</dc:creator>
  <cp:keywords/>
  <dc:description>generated using python-pptx</dc:description>
  <cp:lastModifiedBy>PalpakGPT</cp:lastModifiedBy>
  <cp:revision>1</cp:revision>
  <dcterms:created xsi:type="dcterms:W3CDTF">2026-10-18T00:00:00Z</dcterms:created>
  <dcterms:modified xsi:type="dcterms:W3CDTF">2026-10-18T00:00:00Z</dcterms:modified>
  <cp:category/>
</cp:coreProperties>
</file>